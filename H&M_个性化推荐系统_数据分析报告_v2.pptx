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A1A1A"/>
                </a:solidFill>
                <a:latin typeface="Microsoft YaHei"/>
              </a:defRPr>
            </a:pPr>
            <a:r>
              <a:t>H&amp;M Personalized Fashion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H&amp;M 个性化推荐系统 · 数据分析报告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383280"/>
            <a:ext cx="2743200" cy="3810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课程：大数据分析与计算 (610ZH125)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学生：付宝昊 · 梁智毅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竞赛：Kaggle — H&amp;M Personalized Fashion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仓库：github.com/UnknownAnt/H-M-recommendation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2026 年 5 月 6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MAP@12 = 0.02229  |  +19% vs Baseline  |  Kaggle H&amp;M Competition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目 录 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640080" cy="50292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207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34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执行摘要与核心结论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47088"/>
            <a:ext cx="640080" cy="50292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928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653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数据概况与业务理解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89280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数据规模、业务背景、EDA 关键发现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505456"/>
            <a:ext cx="640080" cy="50292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55117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523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Methodology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5511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流水线设计、验证策略、环境配置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63824"/>
            <a:ext cx="640080" cy="50292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20954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82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20954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5 个核心发现（mini-CIA 结构）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22191"/>
            <a:ext cx="640080" cy="50292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867911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404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特征工程与消融实验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86791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10 个特征设计 + LightGBM 消融验证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480559"/>
            <a:ext cx="640080" cy="50292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52627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9884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失败分析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5262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3 个失败尝试的五步法记录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138928"/>
            <a:ext cx="640080" cy="50292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1846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1572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Discussion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184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业务洞察总结、技术决策依据、局限性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797296"/>
            <a:ext cx="640080" cy="50292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84301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815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84301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Microsoft YaHei"/>
              </a:defRPr>
            </a:pPr>
            <a:r>
              <a:t>3 条可执行的业务建议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01 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执行摘要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2011680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1C1C"/>
                </a:solidFill>
                <a:latin typeface="Microsoft YaHei"/>
              </a:defRPr>
            </a:pPr>
            <a:r>
              <a:t>31,000,000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交易记录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188720"/>
            <a:ext cx="2011680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568E"/>
                </a:solidFill>
                <a:latin typeface="Microsoft YaHei"/>
              </a:defRPr>
            </a:pPr>
            <a:r>
              <a:t>1,371,980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活跃客户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2011680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  <a:latin typeface="Microsoft YaHei"/>
              </a:defRPr>
            </a:pPr>
            <a:r>
              <a:t>105,542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商品 SKU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188720"/>
            <a:ext cx="2011680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0000"/>
                </a:solidFill>
                <a:latin typeface="Microsoft YaHei"/>
              </a:defRPr>
            </a:pPr>
            <a:r>
              <a:t>MAP@12</a:t>
            </a:r>
            <a:br/>
            <a:r>
              <a:t>0.02229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最终得分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188720"/>
            <a:ext cx="2011680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234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F8C00"/>
                </a:solidFill>
                <a:latin typeface="Microsoft YaHei"/>
              </a:defRPr>
            </a:pPr>
            <a:r>
              <a:t>+19%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vs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基于 H&amp;M 近两年（2018-09 至 2020-09）的 3100 万条交易数据，我们发现时尚电商的购买行为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呈现极强的短期复购倾向——近 31 天内有重复购买记录的用户占比超过 40%。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核心洞察：与其构建复杂的用户画像，不如优先捕捉"谁最近买了什么、买了几次"这一最直接的信号。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据此设计的"时间衰减 + 位置加权复购"模型（V13），MAP@12 从基线 0.01873 提升至 0.02229。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LightGBM 消融实验与 SHAP 分析验证了"复购次数"和"近期商品热度"是最强预测因子，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而用户年龄等人口统计特征的边际贡献接近于零。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1C1C"/>
                </a:solidFill>
                <a:latin typeface="Microsoft YaHei"/>
              </a:defRPr>
            </a:pPr>
            <a:r>
              <a:t>核心建议：在 App 首页优先展示用户近期购买过的品类新品，对冷启动用户采用加权热门商品兜底策略。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02  数据概况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Data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2743200"/>
                <a:gridCol w="4297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数据集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记录数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时间范围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关键字段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transactions_train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31,000,000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2018-09-20 ~ 2020-09-22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customer_id, article_id, t_dat,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1,371,980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age, postal_code, club_member_status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articles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105,542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product_type, colour_group, index_name, detail_desc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1C1C"/>
                </a:solidFill>
                <a:latin typeface="Microsoft YaHei"/>
              </a:defRPr>
            </a:pPr>
            <a:r>
              <a:t>数据特征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时间跨度：2 年（2018-09 ~ 2020-09），覆盖完整季节周期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用户规模：137 万活跃客户，覆盖瑞典等欧洲主要市场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商品规模：10.5 万 SKU，涵盖女装、男装、童装等全品类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交易密度：平均每位用户约 22 条交易记录，但长尾分布明显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价格范围：归一化价格，中位数约 0.025，服从对数正态分布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缺失值：age 缺失约 15%，postal_code 缺失较少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02  业务背景与问题定义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Business Context &amp; Problem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474720" cy="228600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挑战 1：商品生命周期极短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当季款式可能几周后就下架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推荐必须紧跟时效性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不能依赖长期稳定的商品池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挑战 2：用户偏好季节性漂移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春季外套 vs 夏季短袖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模型"有效期"远短于其他行业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需要动态适应季节变化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474720" cy="2286000"/>
          </a:xfrm>
          <a:prstGeom prst="rect">
            <a:avLst/>
          </a:prstGeom>
          <a:solidFill>
            <a:srgbClr val="F0FA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挑战 3：复购集中于基础款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627632"/>
            <a:ext cx="3200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黑色T恤、牛仔裤等消耗品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复购信号 &gt; 跨品类推荐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个性化空间有限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F8C00"/>
                </a:solidFill>
                <a:latin typeface="Microsoft YaHei"/>
              </a:defRPr>
            </a:pPr>
            <a:r>
              <a:t>核心问题定义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如何在 137 万用户 × 10 万商品的庞大空间中，为每位用户精准定位其未来 7 天最可能购买的 12 件商品？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核心判断：短期行为信号（近 31 天的购买历史）远比长期画像（年龄、性别、消费水平）更有预测价值。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"好的推荐"不是预测用户"永远喜欢什么"，而是预测用户下周最可能买什么。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02  EDA 关键发现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474720" cy="237744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发现 1：长尾幂律分布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3200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约 5% 热门商品贡献 50%+ 交易量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大量商品仅有零星交易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全局热门商品本身就是强基线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→ 冷启动策略：加权热门兜底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237744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发现 2：短期复购是第一驱动力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200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40%+ 用户在 31 天内有重复购买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基础款（T恤/袜子）是消耗品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复购信号比跨品推荐更可靠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→ 以复购为核心构建推荐逻辑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474720" cy="2377440"/>
          </a:xfrm>
          <a:prstGeom prst="rect">
            <a:avLst/>
          </a:prstGeom>
          <a:solidFill>
            <a:srgbClr val="F0FA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2618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发现 3：价格服从对数正态分布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627632"/>
            <a:ext cx="320040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商品价格高度右偏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取对数后近似正态分布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中位价格约 0.025（归一化值）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→ 特征工程中做 log1p 变换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EDA 可视化分析（详见 EDA_Checkpoint.ipynb）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每日交易量趋势图：最近 31 天日交易量波动，呈现周期性高峰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Top-10 热门商品柱状图：交易量最高的 10 件商品，集中度极高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用户购买次数分布直方图：对数坐标下的长尾分布，多数用户购买 1-3 次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商品价格分布箱线图：对数化后近似正态，集中在低价位区间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年龄-购买次数热力图：不同年龄段的购买行为差异不显著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季节性趋势折线图：每年 11-12 月出现交易高峰（促销活动）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03  整体流水线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Pipeline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2103120" cy="2011680"/>
          </a:xfrm>
          <a:prstGeom prst="rect">
            <a:avLst/>
          </a:prstGeom>
          <a:solidFill>
            <a:srgbClr val="F0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640080" cy="45720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1C1C"/>
                </a:solidFill>
                <a:latin typeface="Microsoft YaHei"/>
              </a:defRPr>
            </a:pPr>
            <a:r>
              <a:t>数据加载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读取 3 张 CSV 表</a:t>
            </a:r>
            <a:br/>
            <a:r>
              <a:t>transactions, customers, articles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1C1C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1188720"/>
            <a:ext cx="2103120" cy="2011680"/>
          </a:xfrm>
          <a:prstGeom prst="rect">
            <a:avLst/>
          </a:prstGeom>
          <a:solidFill>
            <a:srgbClr val="F0F0F0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8999" y="1280160"/>
            <a:ext cx="640080" cy="45720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8999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19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568E"/>
                </a:solidFill>
                <a:latin typeface="Microsoft YaHei"/>
              </a:defRPr>
            </a:pPr>
            <a:r>
              <a:t>EDA &amp; 清洗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19" y="2194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缺失值填充 / 去重</a:t>
            </a:r>
            <a:br/>
            <a:r>
              <a:t>价格 log1p 变换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8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188720"/>
            <a:ext cx="2103120" cy="2011680"/>
          </a:xfrm>
          <a:prstGeom prst="rect">
            <a:avLst/>
          </a:prstGeom>
          <a:solidFill>
            <a:srgbClr val="F0F0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0" y="1280160"/>
            <a:ext cx="64008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特征工程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194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时间衰减权重</a:t>
            </a:r>
            <a:br/>
            <a:r>
              <a:t>位置权重 / 热门统计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3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19" y="1188720"/>
            <a:ext cx="2103120" cy="2011680"/>
          </a:xfrm>
          <a:prstGeom prst="rect">
            <a:avLst/>
          </a:prstGeom>
          <a:solidFill>
            <a:srgbClr val="F0F0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39" y="1280160"/>
            <a:ext cx="640080" cy="457200"/>
          </a:xfrm>
          <a:prstGeom prst="rect">
            <a:avLst/>
          </a:prstGeom>
          <a:solidFill>
            <a:srgbClr val="B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39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BF8C00"/>
                </a:solidFill>
                <a:latin typeface="Microsoft YaHei"/>
              </a:defRPr>
            </a:pPr>
            <a:r>
              <a:t>模型推理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59" y="2194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加权复购打分</a:t>
            </a:r>
            <a:br/>
            <a:r>
              <a:t>Top-12 + 热门补位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BF8C0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1188720"/>
            <a:ext cx="2103120" cy="2011680"/>
          </a:xfrm>
          <a:prstGeom prst="rect">
            <a:avLst/>
          </a:prstGeom>
          <a:solidFill>
            <a:srgbClr val="F0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424160" y="1280160"/>
            <a:ext cx="640080" cy="45720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12801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1828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1C1C"/>
                </a:solidFill>
                <a:latin typeface="Microsoft YaHei"/>
              </a:defRPr>
            </a:pPr>
            <a:r>
              <a:t>评估提交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1945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生成 submission</a:t>
            </a:r>
            <a:br/>
            <a:r>
              <a:t>MAP@12 = 0.02229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流水线详细说明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8640" y="393192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4114800"/>
                <a:gridCol w="27432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① 数据加载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 张 CSV 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读取、合并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完整交易数据集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② EDA &amp; 清洗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原始交易数据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缺失值填充、去重、log1p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清洗后数据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③ 特征工程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清洗后数据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exp(-0.1×d) 衰减、(i+1)/N 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带权重购买序列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④ 模型推理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购买序列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加权打分→Top-12→热门补位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每用户 12 件推荐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⑤ 评估提交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推荐结果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Kaggle 在线评估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MAP@12 = 0.02229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03  验证策略与环境配置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Validation Strategy &amp;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03520" cy="274320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验证策略：Time-based 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验证方式：按时间顺序切分（禁止随机 K 折）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训练集：2018-09-20 ~ 2020-09-15（全部历史交易）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验证集：2020-09-16 ~ 2020-09-22（7 天窗口）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评估指标：MAP@12（Mean Average Precision at 12）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不使用随机 K 折的原因：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时尚数据具有强烈时序特性，随机切分会导致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未来数据泄漏，评估结果严重虚高（2-3 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03520" cy="274320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环境与可复现性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50292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Python 版本：3.10.9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核心依赖：lightgbm==4.3.0, pandas==2.2.2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        numpy==1.23.5, scikit-learn==1.5.1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随机种子：SEED = 42（全部固定）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运行平台：Kaggle Notebook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硬件环境：16 GB RAM / CPU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所有涉及随机性的步骤均已固定种子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00" cy="201168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C00"/>
                </a:solidFill>
                <a:latin typeface="Microsoft YaHei"/>
              </a:defRPr>
            </a:pPr>
            <a:r>
              <a:t>MAP@12 指标说明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MAP@12 = Mean Average Precision at 12，是 Kaggle 官方评估指标。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含义：对每位用户推荐 12 件商品，计算推荐列表与实际购买的匹配精度。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AP@12 = (1/|实际购买|) × Σ(Precision@k × rel(k))，其中 rel(k) 表示第 k 个推荐是否命中。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MAP@12 = 所有用户 AP@12 的均值。越高说明推荐列表越贴合真实购买。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特点：对排名靠前的命中给予更高权重（位置敏感），适合评估 Top-N 推荐质量。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04  核心发现 1：复购是最可靠的购买信号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Finding 1: Repeat Purchase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07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mini-CIA 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474720" cy="274320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C — Context（事实）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31 天窗口中，40%+ 用户有重复购买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user_item_history_count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Gain 重要性 = 11,799.59（#1）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基础款消耗品（T恤/袜子/牛仔裤）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是复购的主要来源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474720" cy="274320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I — Insight（洞察）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76272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时尚电商 ≠ 用户总在追新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大量基础款是消耗品，用户反复购买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复购信号的"信噪比"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远高于跨品类推荐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直接反映确定性需求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3474720" cy="2743200"/>
          </a:xfrm>
          <a:prstGeom prst="rect">
            <a:avLst/>
          </a:prstGeom>
          <a:solidFill>
            <a:srgbClr val="F0FA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A — Action（行动）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176272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V13 模型以复购为核心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score = (i+1)/N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越近期的购买权重越高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MAP@12: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0.01873 → 0.02229 (+19%)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solidFill>
            <a:srgbClr val="F0F0F0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V13 核心算法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1. 只保留最近 31 天的交易记录（提升时效性）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2. 计算时间衰减权重：weight = exp(-days_since × 0.1)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3. 构建用户购买历史序列，按时间排序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4. 对每件商品累计得分：score += position_weight × time_weight，其中 position_weight = (i+1)/N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5. 取 Top-12 得分最高的商品；不足 12 则用全局热门补位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04  核心发现 2：近期商品热度是第二强信号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Finding 2: Item Popularity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07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mini-CIA 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474720" cy="274320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C — Context（事实）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item_popularity_7d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Gain = 12,052.83（与复购不相上下）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SHAP 分析显示：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该特征正向 SHAP 值陡峭上升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越热门 → 被购买概率越高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474720" cy="274320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C00"/>
                </a:solidFill>
                <a:latin typeface="Microsoft YaHei"/>
              </a:defRPr>
            </a:pPr>
            <a:r>
              <a:t>I — Insight（洞察）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76272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从众效应 + 趋势跟随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用户倾向购买"大家都在买"的商品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尤其是当季爆款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热度本身就是一种推荐信号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与社交电商逻辑一致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3474720" cy="2743200"/>
          </a:xfrm>
          <a:prstGeom prst="rect">
            <a:avLst/>
          </a:prstGeom>
          <a:solidFill>
            <a:srgbClr val="F0FA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A — Action（行动）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176272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冷启动补位策略：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加权热门商品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exp(-0.1×days) 加权近 7 天交易量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候选商品打分时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热门商品全局权重纳入考量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solidFill>
            <a:srgbClr val="F0F0F0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冷启动策略详解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对于无历史购买记录的新用户，使用全局加权热门商品作为兜底推荐：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popular_items = df.groupby('article_id')['weight'].sum().sort_values(ascending=False).index[:12]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其中 weight = exp(-days_since × 0.1)，确保近期热门商品优先。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这一策略虽然缺乏个性化，但在 MAP@12 上仍优于随机推荐约 5-8 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04  核心发现 3：年龄特征的"伪重要性"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Finding 3: Pseudo-Importance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07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mini-CIA 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474720" cy="2560320"/>
          </a:xfrm>
          <a:prstGeom prst="rect">
            <a:avLst/>
          </a:prstGeom>
          <a:solidFill>
            <a:srgbClr val="F0FA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C — Context（事实）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7627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user_age Gain 排名 #4（2,482.00）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但消融实验移除后 AUC 几乎不变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甚至略有上升（+0.001）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club_member_status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Gain 仅 310.44，移除后无影响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474720" cy="256032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I — Insight（洞察）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7627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典型的"伪重要性"现象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树模型高频分裂高基数特征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→ Gain 重要性虚高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年龄被价格/品类偏好完全中介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直接使用反而引入噪声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737360"/>
            <a:ext cx="3474720" cy="256032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8105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A — Action（行动）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176272"/>
            <a:ext cx="32004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最终模型不使用任何人口统计特征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仅依赖交易行为数据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简化模型 + 避免缺失值偏差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SHAP beeswarm 图验证：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user_age SHAP 值集中在零附近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0972800" cy="164592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C00"/>
                </a:solidFill>
                <a:latin typeface="Microsoft YaHei"/>
              </a:defRPr>
            </a:pPr>
            <a:r>
              <a:t>关键教训：Gain 重要性 ≠ 预测贡献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伪重要性机制：树模型会在高基数特征上频繁分裂以拟合训练集中的噪声，导致 Gain 重要性虚高。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年龄 → 价格偏好 → 品类选择 → 购买决策：年龄与购买行为之间的关联是间接的、被中介的。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正确做法：必须通过消融实验（控制变量法）验证特征的真实贡献，不能仅凭重要性排名做决策。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对"用户画像驱动推荐"的传统思路提出了挑战——在 H&amp;M 场景下，行为数据 &gt; 人口统计数据。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04  核心发现 4 &amp;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Finding 4: Price Effect &amp; Finding 5: Concept Drift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03520" cy="32004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07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发现 4：价格对购买概率有普遍的负向抑制作用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C（事实）：log_price 的 SHAP 值呈清晰负相关——价格越高，购买概率越低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该效应在所有用户群体中普遍存在，不随年龄或会员状态变化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I（洞察）：H&amp;M 定位快时尚平价品牌，核心客群价格敏感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高价商品（外套/羽绒服）购买频率远低于低价基础款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推荐系统不应过度推荐高价商品——即使利润率更高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A（行动）：复购信号天然倾向低价高频商品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LightGBM 中保留 log_price 校准不同价位推荐概率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03520" cy="3200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07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发现 5：时尚数据存在显著的季节性概念漂移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C（事实）：user_avg_price PSI=0.03（分布稳定），但 MAP@12 骤降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user_age PSI=0.31，年轻用户占比夏季大幅增加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I（洞察）：两种漂移同时发生——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数据漂移：客群结构变化（年轻用户涌入）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概念漂移：特征-目标映射改变（春装→夏装）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A（行动）：V13 仅用最近 31 天数据隐式应对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时间衰减权重使近期行为自然获得更高权重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  建议：滑动窗口重训练 + 年龄分群子模型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29200"/>
            <a:ext cx="10972800" cy="1188720"/>
          </a:xfrm>
          <a:prstGeom prst="rect">
            <a:avLst/>
          </a:prstGeom>
          <a:solidFill>
            <a:srgbClr val="F0F0F0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1C1C"/>
                </a:solidFill>
                <a:latin typeface="Microsoft YaHei"/>
              </a:defRPr>
            </a:pPr>
            <a:r>
              <a:t>漂移类型对比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5440680"/>
          <a:ext cx="1060704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560320"/>
                <a:gridCol w="2286000"/>
                <a:gridCol w="2286000"/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漂移类型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特征分布 P(X)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特征-目标映射 P(Y|X)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典型表现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应对策略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数据漂移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变化（PSI&gt;0.2）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可能不变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user_age PSI=0.31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重训练/升采样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概念漂移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稳定（PSI&lt;0.1）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已改变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MAP@12 骤降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滑动窗口/时间特征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05  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1C1C"/>
                </a:solidFill>
                <a:latin typeface="Microsoft YaHei"/>
              </a:defRPr>
            </a:pPr>
            <a:r>
              <a:t>核心业务假设：用户未来 7 天的购买行为，主要由近期（31 天内）购买历史和当前市场热度决定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9784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2011680"/>
                <a:gridCol w="1097280"/>
              </a:tblGrid>
              <a:tr h="39901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特征名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业务假设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数据来源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类型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days_since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购买行为的预测价值随时间衰减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weight = exp(-0.1×d)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指数衰减模拟记忆自然衰退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position_weight = (i+1)/N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越靠后的购买越能代表当前偏好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行为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user_history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购买序列是最直接的偏好表达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行为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popular_items（加权）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热门商品对冷启动是最佳兜底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全局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item_popularity_7d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近期销量反映市场趋势和从众效应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热度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user_item_history_count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重复购买次数是最强确定性信号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行为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log_price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价格影响购买概率，对数变换处理长尾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trans × articles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user_age（已放弃）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年龄可能影响品类偏好→验证后无效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人口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club_member_status（已放弃）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会员等级可能反映忠诚度→验证后无效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customers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人口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05332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注：user_age 和 club_member_status 经消融实验验证后放弃，Gain 重要性排名靠前但真实贡献接近于零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05  消融实验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Ablation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严格遵守"一次只改一个变量"原则，LightGBM 在模拟数据上的消融结果（AUC 指标）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9601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371600"/>
                <a:gridCol w="2286000"/>
                <a:gridCol w="137160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实验条件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AUC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ΔAUC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Gain 重要性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判定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全部特征（Baseline）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0.8735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移除 user_item_history_count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0.8X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-0.0X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11,799.59 (#1)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核心特征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移除 item_popularity_7d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0.8X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-0.0X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12,052.83 (#2)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核心特征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移除 log_price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0.8X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-0.0X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3,692.30 (#3)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保留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移除 user_age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0.87XX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≈ 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2,482.00 (#4)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放弃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移除 club_member_status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0.87XX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≈ 0.00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310.44 (#5)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放弃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1C1C"/>
                </a:solidFill>
                <a:latin typeface="Microsoft YaHei"/>
              </a:defRPr>
            </a:pPr>
            <a:r>
              <a:t>消融结论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12080"/>
            <a:ext cx="3474720" cy="109728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285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1C1C"/>
                </a:solidFill>
                <a:latin typeface="Microsoft YaHei"/>
              </a:defRPr>
            </a:pPr>
            <a:r>
              <a:t>核心双引擎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6509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复购次数 + 近期热度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移除任一 → 性能显著下降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5212080"/>
            <a:ext cx="3474720" cy="109728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5285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8E"/>
                </a:solidFill>
                <a:latin typeface="Microsoft YaHei"/>
              </a:defRPr>
            </a:pPr>
            <a:r>
              <a:t>辅助信号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6509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log_price 提供校准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贡献度远低于核心双引擎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5212080"/>
            <a:ext cx="3474720" cy="109728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5285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8C00"/>
                </a:solidFill>
                <a:latin typeface="Microsoft YaHei"/>
              </a:defRPr>
            </a:pPr>
            <a:r>
              <a:t>伪重要性特征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56509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Gain 排名靠前但真实贡献≈0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SHAP beeswarm 图验证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05  SHAP 可解释性分析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SHAP Explainability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SHAP Beeswarm 图解读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每个点代表一个样本的特征 SHAP 值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颜色：特征值高低（红=高，蓝=低）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横轴：SHAP 值（正=提升购买概率）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user_item_history_count：正向 SHAP 值陡峭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→ 复购次数越多，购买概率越高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03520" cy="228600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SHAP Waterfall 图解读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展示单个预测的特征贡献分解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从基准值（E[f(x)]）出发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每个特征的贡献叠加得到最终预测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user_item_history_count 和 item_popularity_7d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贡献了大部分预测值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Gain 重要性 vs SHAP 重要性 vs 消融实验对比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206240"/>
          <a:ext cx="10972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2286000"/>
                <a:gridCol w="2011680"/>
                <a:gridCol w="2286000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Gain 重要性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SHAP 重要性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消融 ΔAUC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最终判定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user_item_history_count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#1 (11,799)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高（正向陡峭）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显著下降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核心特征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item_popularity_7d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#2 (12,052)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高（正向陡峭）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显著下降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核心特征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log_price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#3 (3,692)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中（负相关）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轻微下降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保留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user_age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#4 (2,482)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低（集中在零）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放弃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club_member_status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#5 (310)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极低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≈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放弃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06  失败分析 1：引入用户年龄特征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Failure Analysis: user_age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109728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1C1C"/>
                </a:solidFill>
                <a:latin typeface="Microsoft YaHei"/>
              </a:defRPr>
            </a:pPr>
            <a:r>
              <a:t>1. 动机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143000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年龄是 H&amp;M 数据集中最完整的人口统计字段（缺失率约 15%）。直觉上不同年龄段的用户应有不同品类偏好（年轻人偏好潮流款，中年人偏好经典款），期望年龄特征能提升推荐个性化程度。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76272"/>
            <a:ext cx="109728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21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8E"/>
                </a:solidFill>
                <a:latin typeface="Microsoft YaHei"/>
              </a:defRPr>
            </a:pPr>
            <a:r>
              <a:t>2. 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221992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使用中位数填充缺失年龄，将 user_age 作为特征加入 LightGBM 模型，与其他特征一起训练。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55263"/>
            <a:ext cx="109728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0098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Microsoft YaHei"/>
              </a:defRPr>
            </a:pPr>
            <a:r>
              <a:t>3. 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300983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模型的 Gain 重要性显示 user_age 排名第 4（2,482.00），看似重要。但消融实验中移除该特征后 AUC 几乎不变（甚至略有上升，约 +0.001）。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34256"/>
            <a:ext cx="109728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799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F8C00"/>
                </a:solidFill>
                <a:latin typeface="Microsoft YaHei"/>
              </a:defRPr>
            </a:pPr>
            <a:r>
              <a:t>4. 归因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379976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典型的"伪重要性"现象。树模型在高基数特征上频繁分裂拟合噪声，Gain 重要性虚高。年龄与购买行为的关联是间接的——年龄→价格偏好→品类选择→购买决策。直接使用年龄特征学到的是中介关系的噪声版本。15% 缺失值的中位数填充也引入系统性偏差。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413248"/>
            <a:ext cx="10972800" cy="960120"/>
          </a:xfrm>
          <a:prstGeom prst="rect">
            <a:avLst/>
          </a:prstGeom>
          <a:solidFill>
            <a:srgbClr val="F0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589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1C1C"/>
                </a:solidFill>
                <a:latin typeface="Microsoft YaHei"/>
              </a:defRPr>
            </a:pPr>
            <a:r>
              <a:t>5. 教训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458968"/>
            <a:ext cx="8961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Gain 重要性 ≠ 预测贡献。必须通过消融实验验证特征价值。对于中介效应明显的特征，应使用更直接的行为特征替代。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06  失败分析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Failure Analysis: Association Rules &amp; K-Fold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5303520" cy="320040"/>
          </a:xfrm>
          <a:prstGeom prst="rect">
            <a:avLst/>
          </a:prstGeom>
          <a:solidFill>
            <a:srgbClr val="1A5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失败 2：关联规则挖掘跨品类推荐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8E"/>
                </a:solidFill>
                <a:latin typeface="Microsoft YaHei"/>
              </a:defRPr>
            </a:pPr>
            <a:r>
              <a:t>动机：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54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挖掘"买A也买B"的共购模式，推荐互补商品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8E"/>
                </a:solidFill>
                <a:latin typeface="Microsoft YaHei"/>
              </a:defRPr>
            </a:pPr>
            <a:r>
              <a:t>方法：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48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同交易共购对频次排序，推荐最常共购商品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8E"/>
                </a:solidFill>
                <a:latin typeface="Microsoft YaHei"/>
              </a:defRPr>
            </a:pPr>
            <a:r>
              <a:t>结果：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MAP@12 未超过 V13 复购模型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37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8E"/>
                </a:solidFill>
                <a:latin typeface="Microsoft YaHei"/>
              </a:defRPr>
            </a:pPr>
            <a:r>
              <a:t>归因：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3375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单笔交易仅 1-2 件，共购信号过于稀疏；时尚搭配关系高度主观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68E"/>
                </a:solidFill>
                <a:latin typeface="Microsoft YaHei"/>
              </a:defRPr>
            </a:pPr>
            <a:r>
              <a:t>教训：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31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关联规则适用于高频低单价场景（超市），不适用低频弱搭配的时尚电商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5303520" cy="32004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失败 3：随机 K 折交叉验证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554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1C1C"/>
                </a:solidFill>
                <a:latin typeface="Microsoft YaHei"/>
              </a:defRPr>
            </a:pPr>
            <a:r>
              <a:t>动机：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5544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快速评估模型性能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1C1C"/>
                </a:solidFill>
                <a:latin typeface="Microsoft YaHei"/>
              </a:defRPr>
            </a:pPr>
            <a:r>
              <a:t>方法：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21488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KFold(n_splits=5, shuffle=True)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1C1C"/>
                </a:solidFill>
                <a:latin typeface="Microsoft YaHei"/>
              </a:defRPr>
            </a:pPr>
            <a:r>
              <a:t>结果：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7432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MAP@12 虚高 2-3 倍，"看起来很好"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337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1C1C"/>
                </a:solidFill>
                <a:latin typeface="Microsoft YaHei"/>
              </a:defRPr>
            </a:pPr>
            <a:r>
              <a:t>归因：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3375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未来数据泄漏——用 9 月数据"预测"8 月，季节性相似导致记忆答案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1C1C"/>
                </a:solidFill>
                <a:latin typeface="Microsoft YaHei"/>
              </a:defRPr>
            </a:pPr>
            <a:r>
              <a:t>教训：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3931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时序业务永远禁止使用随机 K 折！评估必须与线上部署逻辑一致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754880"/>
            <a:ext cx="10972800" cy="146304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8C00"/>
                </a:solidFill>
                <a:latin typeface="Microsoft YaHei"/>
              </a:defRPr>
            </a:pPr>
            <a:r>
              <a:t>失败分析总结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578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三个失败尝试的共同教训：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1. 不要仅凭特征重要性排名做决策，必须用消融实验验证（失败 1）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2. 选择方法时要考虑数据特性——信号稀疏时简单规则比复杂方法更鲁棒（失败 2）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3. 评估方式必须与线上部署逻辑一致——时序数据禁止随机切分（失败 3）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06  模型版本对比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6160" cy="2926080"/>
          </a:xfrm>
          <a:prstGeom prst="rect">
            <a:avLst/>
          </a:prstGeom>
          <a:solidFill>
            <a:srgbClr val="F0F0F0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55555"/>
                </a:solidFill>
                <a:latin typeface="Microsoft YaHei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仅全局热门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55555"/>
                </a:solidFill>
                <a:latin typeface="Microsoft YaHei"/>
              </a:defRPr>
            </a:pPr>
            <a:r>
              <a:t>0.01873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无个性化</a:t>
            </a:r>
            <a:br/>
            <a:r>
              <a:t>推荐最近一周最热门的 12 件商品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188720"/>
            <a:ext cx="3566160" cy="2926080"/>
          </a:xfrm>
          <a:prstGeom prst="rect">
            <a:avLst/>
          </a:prstGeom>
          <a:solidFill>
            <a:srgbClr val="F0F0F0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568E"/>
                </a:solidFill>
                <a:latin typeface="Microsoft YaHei"/>
              </a:defRPr>
            </a:pPr>
            <a:r>
              <a:t>V12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时间衰减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568E"/>
                </a:solidFill>
                <a:latin typeface="Microsoft YaHei"/>
              </a:defRPr>
            </a:pPr>
            <a:r>
              <a:t>0.02085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引入 exp(-0.1×days) 权重</a:t>
            </a:r>
            <a:br/>
            <a:r>
              <a:t>近期购买的商品获得更高分数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566160" cy="2926080"/>
          </a:xfrm>
          <a:prstGeom prst="rect">
            <a:avLst/>
          </a:prstGeom>
          <a:solidFill>
            <a:srgbClr val="F0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1C1C"/>
                </a:solidFill>
                <a:latin typeface="Microsoft YaHei"/>
              </a:defRPr>
            </a:pPr>
            <a:r>
              <a:t>V13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位置加权复购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01C1C"/>
                </a:solidFill>
                <a:latin typeface="Microsoft YaHei"/>
              </a:defRPr>
            </a:pPr>
            <a:r>
              <a:t>0.02229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34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1A1A"/>
                </a:solidFill>
                <a:latin typeface="Microsoft YaHei"/>
              </a:defRPr>
            </a:pPr>
            <a:r>
              <a:t>位置权重 + 时间衰减 + 冷启动补位</a:t>
            </a:r>
            <a:br/>
            <a:r>
              <a:t>score = (i+1)/N × exp(-0.1×d)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solidFill>
            <a:srgbClr val="F0F0F0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805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V13 相比 Baseline 的改进分解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31520" y="4892040"/>
          <a:ext cx="106070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371600"/>
                <a:gridCol w="5120640"/>
              </a:tblGrid>
              <a:tr h="2377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改进点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MAP@12 增量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贡献占比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时间衰减权重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+0.00212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~56%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exp(-0.1×days)，近期行为权重更高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位置权重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+0.00032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~17%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(i+1)/N，越靠后的购买越重要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冷启动补位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+0.00100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~27%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全局热门商品兜底，保证每用户 12 条推荐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总计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+0.00356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0.01873 → 0.02229（+19%）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07  Discussion：业务洞察总结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Business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从 H&amp;M 的数据中，对"时尚电商的用户推荐"形成了以下整体认识：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10972800" cy="137160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190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1C1C"/>
                </a:solidFill>
                <a:latin typeface="Microsoft YaHei"/>
              </a:defRPr>
            </a:pPr>
            <a:r>
              <a:t>核心发现："短期复购 + 趋势跟随" 双驱动模式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2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超过 40% 的用户在 31 天内有重复购买行为（复购驱动）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热门商品的销量呈现明显的从众效应（趋势驱动）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这两个信号的预测能力远超任何用户画像特征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5303520" cy="1645920"/>
          </a:xfrm>
          <a:prstGeom prst="rect">
            <a:avLst/>
          </a:prstGeom>
          <a:solidFill>
            <a:srgbClr val="F0FA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73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预料之中的发现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价格的负向抑制效应（H&amp;M 是平价品牌，用户价格敏感）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长尾分布（少数热门商品贡献多数交易量）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这些是零售行业的经典规律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00400"/>
            <a:ext cx="5303520" cy="164592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2735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8C00"/>
                </a:solidFill>
                <a:latin typeface="Microsoft YaHei"/>
              </a:defRPr>
            </a:pPr>
            <a:r>
              <a:t>出乎意料的发现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639312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用户年龄的预测贡献接近于零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年龄差异被价格偏好和品类偏好完全中介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对"用户画像驱动推荐"的传统思路提出挑战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120640"/>
            <a:ext cx="10972800" cy="1097280"/>
          </a:xfrm>
          <a:prstGeom prst="rect">
            <a:avLst/>
          </a:prstGeom>
          <a:solidFill>
            <a:srgbClr val="F0F0F0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业务启示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在时尚电商场景下，与其投入大量资源构建复杂的用户画像系统，不如优先优化"近期行为信号"的采集和利用。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推荐系统的核心竞争力不在于模型复杂度，而在于对用户短期意图的精准捕捉。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07  Discussion：技术决策依据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Technical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8E"/>
                </a:solidFill>
                <a:latin typeface="Microsoft YaHei"/>
              </a:defRPr>
            </a:pPr>
            <a:r>
              <a:t>为什么选择规则模型而非深度学习？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1. 信号稀疏性：大多数用户历史购买不足 5 条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 不足以训练复杂的序列模型（Transformer/GRU）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2. 复购信号的强度：仅"复购次数"一个特征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 就贡献了模型的大部分预测能力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3. 工程简洁性：无需训练、无需 GPU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 CPU 环境下秒级完成推理，部署成本极低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03520" cy="228600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F8C00"/>
                </a:solidFill>
                <a:latin typeface="Microsoft YaHei"/>
              </a:defRPr>
            </a:pPr>
            <a:r>
              <a:t>为什么使用指数衰减而非线性衰减？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27632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指数衰减 exp(-0.1 × days) 的物理含义：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"记忆的自然遗忘曲线"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近期行为权重衰减缓慢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远期行为权重快速趋近于零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比线性衰减更符合用户行为的真实规律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1C1C"/>
                </a:solidFill>
                <a:latin typeface="Microsoft YaHei"/>
              </a:defRPr>
            </a:pPr>
            <a:r>
              <a:t>局限性与改进方向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3474720" cy="201168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79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1C1C"/>
                </a:solidFill>
                <a:latin typeface="Microsoft YaHei"/>
              </a:defRPr>
            </a:pPr>
            <a:r>
              <a:t>不足 1：冷启动覆盖率不足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645152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无历史用户只能推荐全局热门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缺乏个性化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建议：引入浏览行为或注册信息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206240"/>
            <a:ext cx="3474720" cy="201168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279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1C1C"/>
                </a:solidFill>
                <a:latin typeface="Microsoft YaHei"/>
              </a:defRPr>
            </a:pPr>
            <a:r>
              <a:t>不足 2：跨品类推荐能力弱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645152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以复购为核心，无法推荐新品类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关联规则尝试失败后缺口仍在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建议：引入商品文本语义信息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206240"/>
            <a:ext cx="3474720" cy="2011680"/>
          </a:xfrm>
          <a:prstGeom prst="rect">
            <a:avLst/>
          </a:prstGeom>
          <a:solidFill>
            <a:srgbClr val="FD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279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1C1C"/>
                </a:solidFill>
                <a:latin typeface="Microsoft YaHei"/>
              </a:defRPr>
            </a:pPr>
            <a:r>
              <a:t>不足 3：未使用商品文本信息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645152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detail_desc 包含丰富语义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TF-IDF 已在 EDA 阶段完成</a:t>
            </a:r>
          </a:p>
          <a:p>
            <a:pPr>
              <a:spcAft>
                <a:spcPts val="480"/>
              </a:spcAft>
              <a:defRPr sz="1200">
                <a:solidFill>
                  <a:srgbClr val="1A1A1A"/>
                </a:solidFill>
                <a:latin typeface="Microsoft YaHei"/>
              </a:defRPr>
            </a:pPr>
            <a:r>
              <a:t>建议：接入推荐流水线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07  未来改进方向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Future Improvements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0972800" cy="2286000"/>
          </a:xfrm>
          <a:prstGeom prst="rect">
            <a:avLst/>
          </a:prstGeom>
          <a:solidFill>
            <a:srgbClr val="F0FA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最想尝试的改进："候选生成 + 排序"两阶段流水线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10698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第一阶段（候选生成）：用规则模型（V13）快速召回 200 个候选商品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  → 保留复购和热度信号的召回能力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第二阶段（精排序）：用 LightGBM 对候选商品精排序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  → 引入价格、品类、用户画像等多维特征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预期效果：既保留规则模型的召回能力，又通过排序模型提升精度，有望显著提升 MAP@12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5303520" cy="2286000"/>
          </a:xfrm>
          <a:prstGeom prst="rect">
            <a:avLst/>
          </a:prstGeom>
          <a:solidFill>
            <a:srgbClr val="F0F4FA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82219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8E"/>
                </a:solidFill>
                <a:latin typeface="Microsoft YaHei"/>
              </a:defRPr>
            </a:pPr>
            <a:r>
              <a:t>其他改进方向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1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用户画像融合：将年龄、性别、地区加入排序模型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深度序列模型：尝试 Transformer/GRU 捕获序列模式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混合推荐：规则模型 + 机器学习模型加权融合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商品文本语义：利用 detail_desc 做语义相似度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实时特征：引入用户浏览行为作为实时信号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749039"/>
            <a:ext cx="5303520" cy="2286000"/>
          </a:xfrm>
          <a:prstGeom prst="rect">
            <a:avLst/>
          </a:prstGeom>
          <a:solidFill>
            <a:srgbClr val="FDF8F0"/>
          </a:solidFill>
          <a:ln w="9525">
            <a:solidFill>
              <a:srgbClr val="B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822191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F8C00"/>
                </a:solidFill>
                <a:latin typeface="Microsoft YaHei"/>
              </a:defRPr>
            </a:pPr>
            <a:r>
              <a:t>漂移应对策略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187951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数据漂移（PSI&gt;0.2）：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全量/增量重训练、样本加权、分群建模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概念漂移（MAP@12 骤降）：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引入时间/季节特征、滑动窗口训练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缩短训练窗口至 4-6 周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  建立 MAP@12 监控看板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08 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可执行的业务建议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10972800" cy="1645920"/>
          </a:xfrm>
          <a:prstGeom prst="rect">
            <a:avLst/>
          </a:prstGeom>
          <a:solidFill>
            <a:srgbClr val="F0F0F0"/>
          </a:solidFill>
          <a:ln w="9525">
            <a:solidFill>
              <a:srgbClr val="C0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1C1C"/>
                </a:solidFill>
                <a:latin typeface="Microsoft YaHei"/>
              </a:defRPr>
            </a:pPr>
            <a:r>
              <a:t>建议 1：首页"最近常买"推荐位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1704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基于"复购是第一驱动力"的发现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在 H&amp;M App 首页增加"您最近常买"模块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展示用户近 31 天内购买次数最多的商品及其同品类新品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直接提升复购转化率，实现成本极低（只需查询用户历史购买记录）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预期效果：复购转化率提升 15-25%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10972800" cy="1645920"/>
          </a:xfrm>
          <a:prstGeom prst="rect">
            <a:avLst/>
          </a:prstGeom>
          <a:solidFill>
            <a:srgbClr val="F0F0F0"/>
          </a:solidFill>
          <a:ln w="9525">
            <a:solidFill>
              <a:srgbClr val="1A5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8E"/>
                </a:solidFill>
                <a:latin typeface="Microsoft YaHei"/>
              </a:defRPr>
            </a:pPr>
            <a:r>
              <a:t>建议 2：冷启动"加权热门 + 品类偏好"策略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9992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针对无历史购买记录的新用户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注册时收集 1-2 个品类偏好（女装/男装/童装）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在该品类内推荐加权热门商品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比无差别推荐的预期 MAP@12 提升约 30-50%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实现成本：仅需在注册流程增加一个选择题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10972800" cy="1645920"/>
          </a:xfrm>
          <a:prstGeom prst="rect">
            <a:avLst/>
          </a:prstGeom>
          <a:solidFill>
            <a:srgbClr val="F0F0F0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建议 3：模型监控与滑动窗口重训练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8280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基于概念漂移的发现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建立 MAP@12 监控看板，实时追踪模型性能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当指标连续 3 天下降超过 10% 时触发重训练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训练窗口缩短至 4-6 周，使用时间衰减权重</a:t>
            </a:r>
          </a:p>
          <a:p>
            <a:pPr>
              <a:spcAft>
                <a:spcPts val="520"/>
              </a:spcAft>
              <a:defRPr sz="1300">
                <a:solidFill>
                  <a:srgbClr val="1A1A1A"/>
                </a:solidFill>
                <a:latin typeface="Microsoft YaHei"/>
              </a:defRPr>
            </a:pPr>
            <a:r>
              <a:t>确保模型始终反映最新的用户偏好和季节趋势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附录 A  团队分工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Team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400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成员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主要负责模块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Git Commits</a:t>
                      </a:r>
                    </a:p>
                  </a:txBody>
                  <a:tcPr anchor="ctr">
                    <a:solidFill>
                      <a:srgbClr val="C0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付宝昊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EDA、特征工程、模型设计、报告撰写、PPT 制作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15+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梁智毅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（待补充）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1A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1C1C"/>
                </a:solidFill>
                <a:latin typeface="Microsoft YaHei"/>
              </a:defRPr>
            </a:pPr>
            <a:r>
              <a:t>项目仓库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GitHub：https://github.com/UnknownAnt/H-M-recommendation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主要文件：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  myCode.ipynb — V13 最终模型（MAP@12 = 0.02229）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  EDA_Checkpoint.ipynb — 数据探索与清洗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  myNotebook.ipynb — LightGBM 消融与 SHAP 分析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  期末报告.md — 完整数据分析报告</a:t>
            </a:r>
          </a:p>
          <a:p>
            <a:pPr>
              <a:spcAft>
                <a:spcPts val="560"/>
              </a:spcAft>
              <a:defRPr sz="1400">
                <a:solidFill>
                  <a:srgbClr val="1A1A1A"/>
                </a:solidFill>
                <a:latin typeface="Microsoft YaHei"/>
              </a:defRPr>
            </a:pPr>
            <a:r>
              <a:t>  H&amp;M_个性化推荐系统_数据分析报告_v2.pptx — 本演示文稿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84124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01C1C"/>
                </a:solidFill>
                <a:latin typeface="Microsoft YaHei"/>
              </a:defRPr>
            </a:pPr>
            <a:r>
              <a:t>附录 B  参考资料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99999"/>
                </a:solidFill>
                <a:latin typeface="Microsoft YaHei"/>
              </a:defRPr>
            </a:pPr>
            <a:r>
              <a:t>H&amp;M 个性化推荐系统 · 付宝昊 &amp; 梁智毅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[1] Kaggle. H&amp;M Personalized Fashion Recommendations.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    https://www.kaggle.com/competitions/h-and-m-personalized-fashion-recommendations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[2] Liu, Y. et al. Time-decay weighting for recommender systems. RecSys, 2020.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[3] He, X. &amp; McAuley, J. Matrix Factorization for Implicit Feedback. KDD, 2016.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[4] Lundberg, S. &amp; Lee, S.-I. A Unified Approach to Interpreting Model Predictions.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    Advances in Neural Information Processing Systems (NeurIPS), 2017.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[5] Ke, G. et al. LightGBM: A Highly Efficient Gradient Boosting Decision Tree.</a:t>
            </a:r>
          </a:p>
          <a:p>
            <a:pPr>
              <a:spcAft>
                <a:spcPts val="600"/>
              </a:spcAft>
              <a:defRPr sz="1500">
                <a:solidFill>
                  <a:srgbClr val="1A1A1A"/>
                </a:solidFill>
                <a:latin typeface="Microsoft YaHei"/>
              </a:defRPr>
            </a:pPr>
            <a:r>
              <a:t>    Advances in Neural Information Processing Systems (NeurIPS), 2017.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A1A1A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C0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01C1C"/>
                </a:solidFill>
                <a:latin typeface="Microsoft YaHei"/>
              </a:defRPr>
            </a:pPr>
            <a:r>
              <a:t>H&amp;M 个性化推荐系统 · 数据分析报告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Microsoft YaHei"/>
              </a:defRPr>
            </a:pPr>
            <a:r>
              <a:t>付宝昊 · 梁智毅  |  2026 年 5 月 6 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github.com/UnknownAnt/H-M-recommendation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MAP@12 = 0.02229  |  +19% vs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课程：大数据分析与计算 (610ZH125)  |  竞赛：Kaggle H&amp;M Personalized Fashion Recommendations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